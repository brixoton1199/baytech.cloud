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Calibri" panose="020F0502020204030204"/>
      <p:regular r:id="rId16"/>
      <p:bold r:id="rId17"/>
      <p:italic r:id="rId18"/>
      <p:boldItalic r:id="rId19"/>
    </p:embeddedFont>
    <p:embeddedFont>
      <p:font typeface="Poppins" panose="00000600000000000000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 panose="020F0502020204030203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33DAB6-E93B-4564-9192-0955E42945F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95250" y="3758144"/>
            <a:ext cx="1080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BAYTECH.CLOUD</a:t>
            </a:r>
            <a:endParaRPr lang="en-US" sz="60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5010707"/>
            <a:ext cx="10287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CLOUD PARTNER ANYTIME ANYWHERE</a:t>
            </a:r>
            <a:endParaRPr sz="9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62100" y="773400"/>
            <a:ext cx="5467802" cy="312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9275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16400" y="3429000"/>
            <a:ext cx="10759200" cy="25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E0E0E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Baytech</a:t>
            </a:r>
            <a:r>
              <a:rPr lang="en-US" sz="2400" b="1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Support Consultancy </a:t>
            </a:r>
            <a:r>
              <a:rPr lang="en-US" sz="2400" b="1" i="0" u="none" strike="noStrike" cap="none">
                <a:solidFill>
                  <a:srgbClr val="E0E0E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Ltd.</a:t>
            </a:r>
            <a:r>
              <a:rPr lang="en-US" sz="2400" b="0" i="0" u="none" strike="noStrike" cap="none">
                <a:solidFill>
                  <a:srgbClr val="E0E0E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helps ambitious businesses turn their goals into reality through technology. We go beyond basic IT support by acting as your </a:t>
            </a:r>
            <a:r>
              <a:rPr lang="en-US" sz="2400" b="1" i="0" u="none" strike="noStrike" cap="none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strategic partner</a:t>
            </a:r>
            <a:r>
              <a:rPr lang="en-US" sz="2400" b="0" i="0" u="none" strike="noStrike" cap="none">
                <a:solidFill>
                  <a:srgbClr val="E0E0E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designing clear and secure technology plans that are tailored to your needs. </a:t>
            </a:r>
            <a:r>
              <a:rPr lang="en-US" sz="2400">
                <a:solidFill>
                  <a:srgbClr val="E0E0E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vendor-neutral approach ensures you get the right solutions to build your own capabilities, reduce complexity, and drive growth. Simply put, </a:t>
            </a:r>
            <a:r>
              <a:rPr lang="en-US" sz="2400" b="1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exist to make your technology strategy work for you.</a:t>
            </a:r>
            <a:endParaRPr lang="en-US" sz="2400" b="1">
              <a:solidFill>
                <a:srgbClr val="9DFF2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425050"/>
            <a:ext cx="1055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Who We Are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93875" y="425050"/>
            <a:ext cx="95400" cy="74310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914440" y="1434900"/>
            <a:ext cx="6363121" cy="15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1649700"/>
            <a:ext cx="2409973" cy="42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52973" y="1649700"/>
            <a:ext cx="2359967" cy="42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103441" y="1649700"/>
            <a:ext cx="2441823" cy="42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35765" y="1649700"/>
            <a:ext cx="2503735" cy="42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390650" y="1920196"/>
            <a:ext cx="1533673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390650" y="2634571"/>
            <a:ext cx="1610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Listen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390650" y="3377521"/>
            <a:ext cx="1533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Understanding your unique business rhythm and goals before mapping the route.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3991123" y="1920196"/>
            <a:ext cx="148366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3991123" y="2634571"/>
            <a:ext cx="1557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Design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991123" y="3377521"/>
            <a:ext cx="14838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Crafting a resilient, flexible architecture that fits your specific needs like a key.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541591" y="1920196"/>
            <a:ext cx="1565523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541591" y="2634571"/>
            <a:ext cx="1643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Build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541591" y="3377521"/>
            <a:ext cx="15654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will guide and recommend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bringing the plan to life alongside with or w/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 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your dedicated internal team.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173914" y="1920196"/>
            <a:ext cx="162743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173914" y="2634571"/>
            <a:ext cx="1708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Grow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173914" y="3377521"/>
            <a:ext cx="16275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Ensuring your infrastructure continues to learn and improve as the landscape evolves.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171700" y="548321"/>
            <a:ext cx="1055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Our Strategic Blueprint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52500" y="572096"/>
            <a:ext cx="95400" cy="74310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1663154"/>
            <a:ext cx="2408634" cy="389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51634" y="1663154"/>
            <a:ext cx="2543621" cy="389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85755" y="1663154"/>
            <a:ext cx="2360860" cy="389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37116" y="1663154"/>
            <a:ext cx="2402383" cy="389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390650" y="2101304"/>
            <a:ext cx="153233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Weeks 1-2</a:t>
            </a:r>
            <a:endParaRPr lang="en-US" sz="1350" b="1" i="0" u="none" strike="noStrike" cap="none">
              <a:solidFill>
                <a:srgbClr val="9DFF2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390650" y="2406104"/>
            <a:ext cx="160895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1: Assess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390650" y="2761204"/>
            <a:ext cx="15324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team will access all necessary info regarding your business to comprehend your needs and plan accordingly.</a:t>
            </a:r>
            <a:endParaRPr lang="en-US" sz="1650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989784" y="2101304"/>
            <a:ext cx="166732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Weeks 3-5</a:t>
            </a:r>
            <a:endParaRPr lang="en-US" sz="1350" b="1" i="0" u="none" strike="noStrike" cap="none">
              <a:solidFill>
                <a:srgbClr val="9DFF2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3989784" y="2406104"/>
            <a:ext cx="17506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2: Design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989784" y="2761204"/>
            <a:ext cx="16674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designers will build infras, tailored to your needs while making sure it is budget friendly, unless otherwise.</a:t>
            </a:r>
            <a:endParaRPr lang="en-US" sz="1650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723905" y="2101304"/>
            <a:ext cx="148456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Weeks 6-12</a:t>
            </a:r>
            <a:endParaRPr lang="en-US" sz="1350" b="1" i="0" u="none" strike="noStrike" cap="none">
              <a:solidFill>
                <a:srgbClr val="9DFF2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723905" y="2406104"/>
            <a:ext cx="1558788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3: Realize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723900" y="2761200"/>
            <a:ext cx="16674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mplementation of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pipelines and infrastructure setup, while making sure everything is clear to 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clients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275266" y="2101304"/>
            <a:ext cx="152608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DFF2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Ongoing</a:t>
            </a:r>
            <a:endParaRPr lang="en-US" sz="1350" b="1" i="0" u="none" strike="noStrike" cap="none">
              <a:solidFill>
                <a:srgbClr val="9DFF2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9275266" y="2406104"/>
            <a:ext cx="16023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4: Scale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275266" y="2761204"/>
            <a:ext cx="1526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Continuous optimization, knowledge transfer, and operational tuning for ROI.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90625" y="539204"/>
            <a:ext cx="10551318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Execution Roadmap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52500" y="570429"/>
            <a:ext cx="95400" cy="74310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1695450"/>
            <a:ext cx="102870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057400" y="2276475"/>
            <a:ext cx="86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Systems designed to 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aid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your existing business tools without months of setup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can be of use for you as soon as we finish our work.</a:t>
            </a:r>
            <a:endParaRPr lang="en-US" sz="1650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152650" y="3148905"/>
            <a:ext cx="8505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All fees will be spent solely on necessary means, to reduce the spending of resources mandatory on your end.</a:t>
            </a:r>
            <a:endParaRPr lang="en-US" sz="1650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152650" y="4021335"/>
            <a:ext cx="8505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Infrastructure and operation 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will be designed and be transparent for you to make sure your business rights are secured, even after our services.</a:t>
            </a:r>
            <a:endParaRPr lang="en-US" sz="1650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533525" y="2314575"/>
            <a:ext cx="2857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533525" y="3187005"/>
            <a:ext cx="381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33525" y="4059435"/>
            <a:ext cx="381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194525" y="544175"/>
            <a:ext cx="1055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Seamless Integration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952500" y="571500"/>
            <a:ext cx="95250" cy="74295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1898302"/>
            <a:ext cx="4953000" cy="342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898302"/>
            <a:ext cx="4953000" cy="342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90650" y="2336452"/>
            <a:ext cx="4076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390650" y="3050827"/>
            <a:ext cx="428053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Predictable Results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390650" y="3793777"/>
            <a:ext cx="40767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believe </a:t>
            </a: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work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should be silent and reliable for all businesses. We automate the "heavy lifting" so you focus on business goals.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24650" y="2336452"/>
            <a:ext cx="4076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6724650" y="3050827"/>
            <a:ext cx="4280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High efficiency</a:t>
            </a:r>
            <a:endParaRPr lang="en-US" sz="2250" b="1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724650" y="3793777"/>
            <a:ext cx="40767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progress is trackable,</a:t>
            </a: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and real-time visibility is ensured for rapid deployment workflows across all project stages.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190625" y="571500"/>
            <a:ext cx="10551318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Operational Excellence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52500" y="571500"/>
            <a:ext cx="95250" cy="74295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19"/>
          <p:cNvGraphicFramePr/>
          <p:nvPr/>
        </p:nvGraphicFramePr>
        <p:xfrm>
          <a:off x="952513" y="1864671"/>
          <a:ext cx="10286975" cy="3853625"/>
        </p:xfrm>
        <a:graphic>
          <a:graphicData uri="http://schemas.openxmlformats.org/drawingml/2006/table">
            <a:tbl>
              <a:tblPr firstRow="1" bandRow="1">
                <a:noFill/>
                <a:tableStyleId>{7733DAB6-E93B-4564-9192-0955E42945F2}</a:tableStyleId>
              </a:tblPr>
              <a:tblGrid>
                <a:gridCol w="3711025"/>
                <a:gridCol w="3164075"/>
                <a:gridCol w="3411875"/>
              </a:tblGrid>
              <a:tr h="77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9DFF2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Strategic Metric</a:t>
                      </a:r>
                      <a:endParaRPr lang="en-US" sz="1950" b="1" i="0" u="none" strike="noStrike" cap="none">
                        <a:solidFill>
                          <a:srgbClr val="9DFF2B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6B6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Legacy Model</a:t>
                      </a:r>
                      <a:endParaRPr lang="en-US" sz="1950" b="1" i="0" u="none" strike="noStrike" cap="none">
                        <a:solidFill>
                          <a:srgbClr val="FF6B6B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9DFF2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Baytech Model</a:t>
                      </a:r>
                      <a:endParaRPr lang="en-US" sz="1950" b="1" i="0" u="none" strike="noStrike" cap="none">
                        <a:solidFill>
                          <a:srgbClr val="9DFF2B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77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Ecosystem</a:t>
                      </a:r>
                      <a:endParaRPr lang="en-US" sz="1650" b="1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Vendor Lock-in</a:t>
                      </a:r>
                      <a:endParaRPr lang="en-US" sz="1650" b="0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Vendor Agnostic</a:t>
                      </a:r>
                      <a:endParaRPr lang="en-US" sz="1650" b="0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77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Strate</a:t>
                      </a: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gic F</a:t>
                      </a: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ocus</a:t>
                      </a:r>
                      <a:endParaRPr lang="en-US" sz="1650" b="1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Fixing Symptoms</a:t>
                      </a:r>
                      <a:endParaRPr lang="en-US" sz="1650" b="0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Building Valuation</a:t>
                      </a:r>
                      <a:endParaRPr lang="en-US" sz="1650" b="0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77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Knowledge</a:t>
                      </a:r>
                      <a:endParaRPr lang="en-US" sz="1650" b="1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Proprietary Silos</a:t>
                      </a:r>
                      <a:endParaRPr lang="en-US" sz="1650" b="0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Radical Transfer</a:t>
                      </a:r>
                      <a:endParaRPr lang="en-US" sz="1650" b="0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77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Ultimate Goal</a:t>
                      </a:r>
                      <a:endParaRPr lang="en-US" sz="1650" b="1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3B3B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Client Dependence</a:t>
                      </a:r>
                      <a:endParaRPr lang="en-US" sz="1650" b="0" i="0" u="none" strike="noStrike" cap="none">
                        <a:solidFill>
                          <a:srgbClr val="B3B3B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Technical Sovereignty</a:t>
                      </a:r>
                      <a:endParaRPr lang="en-US" sz="1650" b="0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9"/>
          <p:cNvSpPr/>
          <p:nvPr/>
        </p:nvSpPr>
        <p:spPr>
          <a:xfrm>
            <a:off x="952500" y="2482304"/>
            <a:ext cx="37110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663529" y="2482304"/>
            <a:ext cx="31640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827615" y="2482304"/>
            <a:ext cx="341188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52500" y="3242369"/>
            <a:ext cx="37110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663529" y="3242369"/>
            <a:ext cx="31640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827615" y="3242369"/>
            <a:ext cx="341188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952500" y="4002434"/>
            <a:ext cx="37110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663529" y="4002434"/>
            <a:ext cx="31640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827615" y="4002434"/>
            <a:ext cx="341188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52500" y="4762500"/>
            <a:ext cx="37110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663529" y="4762500"/>
            <a:ext cx="31640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827615" y="4762500"/>
            <a:ext cx="341188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952500" y="5522565"/>
            <a:ext cx="371102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663529" y="5522565"/>
            <a:ext cx="31640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827615" y="5522565"/>
            <a:ext cx="341188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190625" y="559296"/>
            <a:ext cx="10551318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A New Class of Partnership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52500" y="570596"/>
            <a:ext cx="95400" cy="74310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1822951"/>
            <a:ext cx="3238500" cy="41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76750" y="1822951"/>
            <a:ext cx="3238500" cy="41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01000" y="1822951"/>
            <a:ext cx="3238500" cy="41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90650" y="2073091"/>
            <a:ext cx="2362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390650" y="2611641"/>
            <a:ext cx="2480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Knowledge Sovereignty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390650" y="3572916"/>
            <a:ext cx="2362200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Knowledge silos are a risk. We believe a project is only complete when your team can run it without us.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914900" y="2073091"/>
            <a:ext cx="2362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4914900" y="2611641"/>
            <a:ext cx="2480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Live Status Tracking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914900" y="3572916"/>
            <a:ext cx="2362200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Real-time monitoring of server health and infrastructure performance. Transparent uptime metrics available 24/7.</a:t>
            </a:r>
            <a:endParaRPr lang="en-US" sz="165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39150" y="2073091"/>
            <a:ext cx="2362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439150" y="2611641"/>
            <a:ext cx="2480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The Open Book Asset</a:t>
            </a:r>
            <a:endParaRPr lang="en-US" sz="2250" b="1" i="0" u="none" strike="noStrike" cap="none">
              <a:solidFill>
                <a:srgbClr val="FFFFFF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439150" y="3553866"/>
            <a:ext cx="2362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Architecture Fidelity (HLD/LLD)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B3B3B3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• Continuity Shield (SOPs)</a:t>
            </a:r>
            <a:endParaRPr lang="en-US" sz="1500" b="0" i="0" u="none" strike="noStrike" cap="none">
              <a:solidFill>
                <a:srgbClr val="B3B3B3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190625" y="566791"/>
            <a:ext cx="1055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Technology Playbook</a:t>
            </a:r>
            <a:endParaRPr lang="en-US" sz="39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952500" y="566791"/>
            <a:ext cx="95400" cy="743100"/>
          </a:xfrm>
          <a:prstGeom prst="rect">
            <a:avLst/>
          </a:prstGeom>
          <a:solidFill>
            <a:srgbClr val="9DF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6143625"/>
            <a:ext cx="10287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952500" y="1195685"/>
            <a:ext cx="732091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9DFF2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READY TO PARTNER?</a:t>
            </a:r>
            <a:endParaRPr lang="en-US" sz="5400" b="1" i="0" u="none" strike="noStrike" cap="none">
              <a:solidFill>
                <a:srgbClr val="9DFF2B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952500" y="2414885"/>
            <a:ext cx="69723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Let’s discuss how we accelerate your long-term technology goals.</a:t>
            </a:r>
            <a:endParaRPr lang="en-US" sz="195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428750" y="3142505"/>
            <a:ext cx="64960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support@baytech.cloud</a:t>
            </a:r>
            <a:endParaRPr lang="en-US" sz="195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428750" y="3736776"/>
            <a:ext cx="64960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baytech.cloud</a:t>
            </a:r>
            <a:endParaRPr lang="en-US" sz="195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428750" y="4331047"/>
            <a:ext cx="64960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+44 7880 66968</a:t>
            </a:r>
            <a:endParaRPr lang="en-US" sz="195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428750" y="4925317"/>
            <a:ext cx="6496050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77 Camden Street Lower, Dublin 2,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95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DUBLIN, Ireland, D02 XE80 </a:t>
            </a:r>
            <a:endParaRPr lang="en-US" sz="195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319013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2500" y="378440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2500" y="437867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52500" y="4972942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2911</Words>
  <Application>WPS 演示</Application>
  <PresentationFormat/>
  <Paragraphs>128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Poppins</vt:lpstr>
      <vt:lpstr>Montserrat</vt:lpstr>
      <vt:lpstr>Lato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damn sia</cp:lastModifiedBy>
  <cp:revision>1</cp:revision>
  <dcterms:created xsi:type="dcterms:W3CDTF">2026-01-14T12:02:47Z</dcterms:created>
  <dcterms:modified xsi:type="dcterms:W3CDTF">2026-01-14T12:02:48Z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4CA8DF216F5F40F5BC0FAF5A33284E68_13</vt:lpwstr>
  </property>
  <property fmtid="{D5CDD505-2E9C-101B-9397-08002B2CF9AE}" pid="3" name="KSOProductBuildVer">
    <vt:lpwstr>2052-12.1.0.24034</vt:lpwstr>
  </property>
</Properties>
</file>